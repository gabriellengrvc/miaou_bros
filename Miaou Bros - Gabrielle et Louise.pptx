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Changa"/>
      <p:regular r:id="rId16"/>
      <p:bold r:id="rId17"/>
    </p:embeddedFont>
    <p:embeddedFont>
      <p:font typeface="Nanum Gothic Coding"/>
      <p:regular r:id="rId18"/>
      <p:bold r:id="rId19"/>
    </p:embeddedFont>
    <p:embeddedFont>
      <p:font typeface="Lexen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exen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hanga-bold.fntdata"/><Relationship Id="rId16" Type="http://schemas.openxmlformats.org/officeDocument/2006/relationships/font" Target="fonts/Chang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anumGothicCoding-bold.fntdata"/><Relationship Id="rId6" Type="http://schemas.openxmlformats.org/officeDocument/2006/relationships/slide" Target="slides/slide1.xml"/><Relationship Id="rId18" Type="http://schemas.openxmlformats.org/officeDocument/2006/relationships/font" Target="fonts/NanumGothicCoding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b6a90889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b6a9088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06a23cf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06a23cf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1ce06936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1ce06936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b6a9088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b6a9088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05ea4cd6_6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205ea4cd6_6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5b63e9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35b63e9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1ce06936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1ce06936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f1f8eec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f1f8eec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f29dbce1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f29dbce1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hyperlink" Target="http://drive.google.com/file/d/1efTUZ6hkLJZuw3ZoAaDFuJoaDUxNMV1s/view" TargetMode="External"/><Relationship Id="rId6" Type="http://schemas.openxmlformats.org/officeDocument/2006/relationships/image" Target="../media/image13.jpg"/><Relationship Id="rId7" Type="http://schemas.openxmlformats.org/officeDocument/2006/relationships/hyperlink" Target="http://drive.google.com/file/d/1PfveyzXwfxoEiFyotuPONN86f702pgYP/view" TargetMode="External"/><Relationship Id="rId8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hyperlink" Target="https://www.pygame.org/docs/" TargetMode="External"/><Relationship Id="rId6" Type="http://schemas.openxmlformats.org/officeDocument/2006/relationships/hyperlink" Target="https://stackoverflow.com/questions/64530620/how-to-spawn-multiple-enemies-in-pygame" TargetMode="External"/><Relationship Id="rId7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map.png"/>
          <p:cNvPicPr preferRelativeResize="0"/>
          <p:nvPr/>
        </p:nvPicPr>
        <p:blipFill rotWithShape="1">
          <a:blip r:embed="rId3">
            <a:alphaModFix/>
          </a:blip>
          <a:srcRect b="0" l="867" r="73698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1130975"/>
            <a:ext cx="8520600" cy="11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Miaou Bros</a:t>
            </a:r>
            <a:endParaRPr b="1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1949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  <a:latin typeface="Changa"/>
                <a:ea typeface="Changa"/>
                <a:cs typeface="Changa"/>
                <a:sym typeface="Changa"/>
              </a:rPr>
              <a:t>ER d’OC informatique</a:t>
            </a:r>
            <a:endParaRPr>
              <a:solidFill>
                <a:schemeClr val="lt1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32900" y="4426050"/>
            <a:ext cx="550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Gabrielle et Louise</a:t>
            </a:r>
            <a:endParaRPr sz="18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20 mai 2026 Collège Sismondi</a:t>
            </a:r>
            <a:endParaRPr sz="1800">
              <a:solidFill>
                <a:schemeClr val="lt1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58" name="Google Shape;58;p13" title="animation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9" y="2516575"/>
            <a:ext cx="621348" cy="7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nuages.png"/>
          <p:cNvPicPr preferRelativeResize="0"/>
          <p:nvPr/>
        </p:nvPicPr>
        <p:blipFill rotWithShape="1">
          <a:blip r:embed="rId3">
            <a:alphaModFix/>
          </a:blip>
          <a:srcRect b="0" l="0" r="63646" t="0"/>
          <a:stretch/>
        </p:blipFill>
        <p:spPr>
          <a:xfrm>
            <a:off x="0" y="0"/>
            <a:ext cx="9144003" cy="3598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sk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nuages2.png"/>
          <p:cNvPicPr preferRelativeResize="0"/>
          <p:nvPr/>
        </p:nvPicPr>
        <p:blipFill rotWithShape="1">
          <a:blip r:embed="rId5">
            <a:alphaModFix/>
          </a:blip>
          <a:srcRect b="0" l="50000" r="8413" t="0"/>
          <a:stretch/>
        </p:blipFill>
        <p:spPr>
          <a:xfrm>
            <a:off x="0" y="0"/>
            <a:ext cx="9143997" cy="31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3118800" y="636825"/>
            <a:ext cx="29064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520">
                <a:latin typeface="Nanum Gothic Coding"/>
                <a:ea typeface="Nanum Gothic Coding"/>
                <a:cs typeface="Nanum Gothic Coding"/>
                <a:sym typeface="Nanum Gothic Coding"/>
              </a:rPr>
              <a:t>Sommaire</a:t>
            </a:r>
            <a:endParaRPr b="1" sz="3520"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675600" y="1750300"/>
            <a:ext cx="7792800" cy="2153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Présentation du jeu et ses </a:t>
            </a: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règles</a:t>
            </a: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 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Explications de défis: difficultées rencontrées et comment on les a résolues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Limites du jeu 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Bibliographie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68" name="Google Shape;68;p14" title="IMG_1983.png"/>
          <p:cNvPicPr preferRelativeResize="0"/>
          <p:nvPr/>
        </p:nvPicPr>
        <p:blipFill rotWithShape="1">
          <a:blip r:embed="rId6">
            <a:alphaModFix/>
          </a:blip>
          <a:srcRect b="48031" l="21382" r="60799" t="32099"/>
          <a:stretch/>
        </p:blipFill>
        <p:spPr>
          <a:xfrm>
            <a:off x="7165350" y="855400"/>
            <a:ext cx="1222000" cy="102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 title="sk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nuages2.png"/>
          <p:cNvPicPr preferRelativeResize="0"/>
          <p:nvPr/>
        </p:nvPicPr>
        <p:blipFill rotWithShape="1">
          <a:blip r:embed="rId4">
            <a:alphaModFix/>
          </a:blip>
          <a:srcRect b="0" l="50000" r="8413" t="0"/>
          <a:stretch/>
        </p:blipFill>
        <p:spPr>
          <a:xfrm>
            <a:off x="0" y="0"/>
            <a:ext cx="9143997" cy="31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type="title"/>
          </p:nvPr>
        </p:nvSpPr>
        <p:spPr>
          <a:xfrm>
            <a:off x="3099600" y="392000"/>
            <a:ext cx="294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fr" sz="2968">
                <a:latin typeface="Nanum Gothic Coding"/>
                <a:ea typeface="Nanum Gothic Coding"/>
                <a:cs typeface="Nanum Gothic Coding"/>
                <a:sym typeface="Nanum Gothic Coding"/>
              </a:rPr>
              <a:t>Logique du jeu</a:t>
            </a:r>
            <a:endParaRPr b="1" sz="2968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solidFill>
                <a:srgbClr val="C27BA0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801600" y="1120650"/>
            <a:ext cx="25215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fr" sz="1595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Le concept</a:t>
            </a:r>
            <a:endParaRPr sz="1595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298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595"/>
              <a:buFont typeface="Changa"/>
              <a:buChar char="★"/>
            </a:pPr>
            <a:r>
              <a:rPr lang="fr" sz="1595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jeu du style *Super Mario Bros* </a:t>
            </a:r>
            <a:endParaRPr sz="1595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298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95"/>
              <a:buFont typeface="Changa"/>
              <a:buChar char="★"/>
            </a:pPr>
            <a:r>
              <a:rPr lang="fr" sz="1595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le chat doit traverser 2 niveaux en traversant les plateformes et en évitant les ennemis pour gagner et pour remporter le prix à la fin</a:t>
            </a:r>
            <a:endParaRPr sz="1595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595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595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052225" y="1336600"/>
            <a:ext cx="275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423000" y="1120650"/>
            <a:ext cx="48954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Mécanismes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déplacement gauche/droite 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double saut avec rotation 360 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tomber dans l’eau/être touché par l’ennemi = respawn 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ennemis poursuivent le chat et </a:t>
            </a: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apparaissent</a:t>
            </a: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 aléatoirement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niveau 1 et niveau 2 (plus dur)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79" name="Google Shape;79;p15" title="IMG_1983.png"/>
          <p:cNvPicPr preferRelativeResize="0"/>
          <p:nvPr/>
        </p:nvPicPr>
        <p:blipFill rotWithShape="1">
          <a:blip r:embed="rId5">
            <a:alphaModFix/>
          </a:blip>
          <a:srcRect b="48031" l="21382" r="60799" t="32099"/>
          <a:stretch/>
        </p:blipFill>
        <p:spPr>
          <a:xfrm>
            <a:off x="6810437" y="233550"/>
            <a:ext cx="1222000" cy="102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 title="IMG_1992.png"/>
          <p:cNvPicPr preferRelativeResize="0"/>
          <p:nvPr/>
        </p:nvPicPr>
        <p:blipFill rotWithShape="1">
          <a:blip r:embed="rId3">
            <a:alphaModFix/>
          </a:blip>
          <a:srcRect b="0" l="34422" r="0" t="0"/>
          <a:stretch/>
        </p:blipFill>
        <p:spPr>
          <a:xfrm>
            <a:off x="0" y="0"/>
            <a:ext cx="47164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title="IMG_1991.png"/>
          <p:cNvPicPr preferRelativeResize="0"/>
          <p:nvPr/>
        </p:nvPicPr>
        <p:blipFill rotWithShape="1">
          <a:blip r:embed="rId4">
            <a:alphaModFix/>
          </a:blip>
          <a:srcRect b="0" l="0" r="42922" t="0"/>
          <a:stretch/>
        </p:blipFill>
        <p:spPr>
          <a:xfrm>
            <a:off x="4560950" y="0"/>
            <a:ext cx="4655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506375" y="1389400"/>
            <a:ext cx="32505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niveau 1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monde naturel (for</a:t>
            </a: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êt/fleurs)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tomber dans l’eau/touche l’ennemi = retour depuis début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vitesse modérée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1 ennemi actif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but: atteindre la fin -&gt; niveau 2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052225" y="1336600"/>
            <a:ext cx="275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5389138" y="1389400"/>
            <a:ext cx="32505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 niveau 2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monde volcanique (enfer/lave)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tomber dans la lave/touche l’ennemi = retour au niveau 1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vitesse rapide 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2 ennemis actifs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but: atteindre la fin -&gt; victoire + prix(poisson)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3099600" y="392000"/>
            <a:ext cx="294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2968">
                <a:latin typeface="Nanum Gothic Coding"/>
                <a:ea typeface="Nanum Gothic Coding"/>
                <a:cs typeface="Nanum Gothic Coding"/>
                <a:sym typeface="Nanum Gothic Coding"/>
              </a:rPr>
              <a:t>Les niveaux</a:t>
            </a:r>
            <a:endParaRPr b="1" sz="2968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>
              <a:solidFill>
                <a:srgbClr val="C27BA0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90" name="Google Shape;90;p16" title="IMG_1985.png"/>
          <p:cNvPicPr preferRelativeResize="0"/>
          <p:nvPr/>
        </p:nvPicPr>
        <p:blipFill rotWithShape="1">
          <a:blip r:embed="rId5">
            <a:alphaModFix/>
          </a:blip>
          <a:srcRect b="13596" l="36518" r="26310" t="31579"/>
          <a:stretch/>
        </p:blipFill>
        <p:spPr>
          <a:xfrm>
            <a:off x="7997512" y="1389388"/>
            <a:ext cx="1129976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IMG_198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6984" y="1166475"/>
            <a:ext cx="2001616" cy="16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 title="sk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nuages2.png"/>
          <p:cNvPicPr preferRelativeResize="0"/>
          <p:nvPr/>
        </p:nvPicPr>
        <p:blipFill rotWithShape="1">
          <a:blip r:embed="rId4">
            <a:alphaModFix/>
          </a:blip>
          <a:srcRect b="0" l="50000" r="8413" t="0"/>
          <a:stretch/>
        </p:blipFill>
        <p:spPr>
          <a:xfrm>
            <a:off x="0" y="0"/>
            <a:ext cx="9143997" cy="314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 title="IMG_1991.png"/>
          <p:cNvPicPr preferRelativeResize="0"/>
          <p:nvPr/>
        </p:nvPicPr>
        <p:blipFill rotWithShape="1">
          <a:blip r:embed="rId5">
            <a:alphaModFix/>
          </a:blip>
          <a:srcRect b="4739" l="0" r="0" t="79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2494950" y="413200"/>
            <a:ext cx="415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56"/>
              <a:buFont typeface="Arial"/>
              <a:buNone/>
            </a:pPr>
            <a:r>
              <a:rPr b="1" lang="fr" sz="2968">
                <a:latin typeface="Nanum Gothic Coding"/>
                <a:ea typeface="Nanum Gothic Coding"/>
                <a:cs typeface="Nanum Gothic Coding"/>
                <a:sym typeface="Nanum Gothic Coding"/>
              </a:rPr>
              <a:t>Défis rencontrées</a:t>
            </a:r>
            <a:endParaRPr b="1" sz="2968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27BA0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62375" y="1510825"/>
            <a:ext cx="6447300" cy="277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 Défi rencontré: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Les ennemis, sprite ou pas sprite? Gestion des collisions et de la camera_x.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Comment on l’a réglé: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≠sprite et une liste “enemys” qui permet la gestion des collisions dans class Chat et une fonction “affiche()”.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101" name="Google Shape;101;p17" title="IMG_1983.png"/>
          <p:cNvPicPr preferRelativeResize="0"/>
          <p:nvPr/>
        </p:nvPicPr>
        <p:blipFill rotWithShape="1">
          <a:blip r:embed="rId6">
            <a:alphaModFix/>
          </a:blip>
          <a:srcRect b="48031" l="21382" r="60799" t="32099"/>
          <a:stretch/>
        </p:blipFill>
        <p:spPr>
          <a:xfrm rot="5400000">
            <a:off x="6870450" y="2859750"/>
            <a:ext cx="1222000" cy="102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 title="IMG_1991.png"/>
          <p:cNvPicPr preferRelativeResize="0"/>
          <p:nvPr/>
        </p:nvPicPr>
        <p:blipFill rotWithShape="1">
          <a:blip r:embed="rId3">
            <a:alphaModFix/>
          </a:blip>
          <a:srcRect b="4739" l="0" r="0" t="79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2494950" y="413200"/>
            <a:ext cx="415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56"/>
              <a:buFont typeface="Arial"/>
              <a:buNone/>
            </a:pPr>
            <a:r>
              <a:rPr b="1" lang="fr" sz="2968">
                <a:latin typeface="Nanum Gothic Coding"/>
                <a:ea typeface="Nanum Gothic Coding"/>
                <a:cs typeface="Nanum Gothic Coding"/>
                <a:sym typeface="Nanum Gothic Coding"/>
              </a:rPr>
              <a:t>Défis rencontrées</a:t>
            </a:r>
            <a:endParaRPr b="1" sz="2968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27BA0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671875" y="1512700"/>
            <a:ext cx="4041300" cy="275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 Défi rencontré: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Les </a:t>
            </a: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collisions</a:t>
            </a: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 du chat 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Comment on l’a réglé: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Ajoute code pour le mouvement vertical et collision également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2 boucles for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109" name="Google Shape;109;p18" title="IMG_1983.png"/>
          <p:cNvPicPr preferRelativeResize="0"/>
          <p:nvPr/>
        </p:nvPicPr>
        <p:blipFill rotWithShape="1">
          <a:blip r:embed="rId4">
            <a:alphaModFix/>
          </a:blip>
          <a:srcRect b="48031" l="21382" r="60799" t="32099"/>
          <a:stretch/>
        </p:blipFill>
        <p:spPr>
          <a:xfrm>
            <a:off x="2102225" y="795125"/>
            <a:ext cx="1222000" cy="102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 title="Untitled (online-video-cutter.com)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2461" y="1236751"/>
            <a:ext cx="2101676" cy="158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 title="Untitled2 (online-video-cutter.com)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82451" y="2927775"/>
            <a:ext cx="2101676" cy="157364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7556075" y="1719725"/>
            <a:ext cx="98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  <a:latin typeface="Changa"/>
                <a:ea typeface="Changa"/>
                <a:cs typeface="Changa"/>
                <a:sym typeface="Changa"/>
              </a:rPr>
              <a:t>avant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7556075" y="3483750"/>
            <a:ext cx="98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  <a:latin typeface="Changa"/>
                <a:ea typeface="Changa"/>
                <a:cs typeface="Changa"/>
                <a:sym typeface="Changa"/>
              </a:rPr>
              <a:t>après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 title="IMG_1991.png"/>
          <p:cNvPicPr preferRelativeResize="0"/>
          <p:nvPr/>
        </p:nvPicPr>
        <p:blipFill rotWithShape="1">
          <a:blip r:embed="rId3">
            <a:alphaModFix/>
          </a:blip>
          <a:srcRect b="4739" l="0" r="0" t="79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>
            <p:ph type="title"/>
          </p:nvPr>
        </p:nvSpPr>
        <p:spPr>
          <a:xfrm>
            <a:off x="2494950" y="413200"/>
            <a:ext cx="415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56"/>
              <a:buFont typeface="Arial"/>
              <a:buNone/>
            </a:pPr>
            <a:r>
              <a:rPr b="1" lang="fr" sz="2968">
                <a:latin typeface="Nanum Gothic Coding"/>
                <a:ea typeface="Nanum Gothic Coding"/>
                <a:cs typeface="Nanum Gothic Coding"/>
                <a:sym typeface="Nanum Gothic Coding"/>
              </a:rPr>
              <a:t>Défis rencontrées</a:t>
            </a:r>
            <a:endParaRPr b="1" sz="2968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27BA0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671875" y="1512700"/>
            <a:ext cx="6460200" cy="275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 Autres défis rencontrés: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La gestion de la “map”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Beaucoup d’images.png (plateformes)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Affichage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Ennemis apparaissent parfois dès le début/toute fin, donc le chat meurt automatiquement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L’animation du chat avec variable i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121" name="Google Shape;121;p19" title="IMG_1983.png"/>
          <p:cNvPicPr preferRelativeResize="0"/>
          <p:nvPr/>
        </p:nvPicPr>
        <p:blipFill rotWithShape="1">
          <a:blip r:embed="rId4">
            <a:alphaModFix/>
          </a:blip>
          <a:srcRect b="48031" l="21382" r="60799" t="32099"/>
          <a:stretch/>
        </p:blipFill>
        <p:spPr>
          <a:xfrm rot="5400000">
            <a:off x="6870450" y="2770850"/>
            <a:ext cx="1222000" cy="102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 title="IMG_1991.png"/>
          <p:cNvPicPr preferRelativeResize="0"/>
          <p:nvPr/>
        </p:nvPicPr>
        <p:blipFill rotWithShape="1">
          <a:blip r:embed="rId3">
            <a:alphaModFix/>
          </a:blip>
          <a:srcRect b="4739" l="0" r="0" t="79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type="title"/>
          </p:nvPr>
        </p:nvSpPr>
        <p:spPr>
          <a:xfrm>
            <a:off x="2494950" y="413200"/>
            <a:ext cx="415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968">
                <a:latin typeface="Nanum Gothic Coding"/>
                <a:ea typeface="Nanum Gothic Coding"/>
                <a:cs typeface="Nanum Gothic Coding"/>
                <a:sym typeface="Nanum Gothic Coding"/>
              </a:rPr>
              <a:t>Critiques</a:t>
            </a:r>
            <a:endParaRPr b="1" sz="2968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27BA0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77450" y="1512700"/>
            <a:ext cx="3984000" cy="2608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Limites actuelles: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pas de système de vies ou score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que 2 niveaux 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le chat n'est pas visible lors des sauts trop hauts pour atteindre une plateforme haute</a:t>
            </a:r>
            <a:endParaRPr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699275" y="1512700"/>
            <a:ext cx="3910500" cy="335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Améliorations possibles: 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système de vies (9 vies/coeurs par exemple)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ajouter plus de niveaux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ajouter des</a:t>
            </a: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 pièces à ramasser en chemin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ajouter différents types d'ennemis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hanga"/>
              <a:buChar char="★"/>
            </a:pPr>
            <a:r>
              <a:rPr lang="fr" sz="1800">
                <a:solidFill>
                  <a:srgbClr val="434343"/>
                </a:solidFill>
                <a:latin typeface="Changa"/>
                <a:ea typeface="Changa"/>
                <a:cs typeface="Changa"/>
                <a:sym typeface="Changa"/>
              </a:rPr>
              <a:t>ajouter système de caméra verticale</a:t>
            </a:r>
            <a:endParaRPr sz="1800">
              <a:solidFill>
                <a:srgbClr val="434343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130" name="Google Shape;130;p20" title="IMG_1983.png"/>
          <p:cNvPicPr preferRelativeResize="0"/>
          <p:nvPr/>
        </p:nvPicPr>
        <p:blipFill rotWithShape="1">
          <a:blip r:embed="rId4">
            <a:alphaModFix/>
          </a:blip>
          <a:srcRect b="48031" l="21382" r="60799" t="32099"/>
          <a:stretch/>
        </p:blipFill>
        <p:spPr>
          <a:xfrm rot="10800000">
            <a:off x="2557850" y="3985375"/>
            <a:ext cx="1222000" cy="102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1" title="sk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 title="nuages2.png"/>
          <p:cNvPicPr preferRelativeResize="0"/>
          <p:nvPr/>
        </p:nvPicPr>
        <p:blipFill rotWithShape="1">
          <a:blip r:embed="rId4">
            <a:alphaModFix/>
          </a:blip>
          <a:srcRect b="0" l="50000" r="8413" t="0"/>
          <a:stretch/>
        </p:blipFill>
        <p:spPr>
          <a:xfrm>
            <a:off x="0" y="0"/>
            <a:ext cx="9143997" cy="31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1041600" y="1407075"/>
            <a:ext cx="7060800" cy="3347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anga"/>
              <a:buChar char="★"/>
            </a:pPr>
            <a:r>
              <a:rPr lang="fr" sz="1400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</a:rPr>
              <a:t>Cours de M. Weiss</a:t>
            </a:r>
            <a:endParaRPr sz="1400">
              <a:solidFill>
                <a:schemeClr val="dk1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anga"/>
              <a:buChar char="★"/>
            </a:pPr>
            <a:r>
              <a:rPr lang="fr" sz="1400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</a:rPr>
              <a:t>Pygame documentation : </a:t>
            </a:r>
            <a:endParaRPr sz="1400">
              <a:solidFill>
                <a:schemeClr val="dk1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 u="sng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https://www.pygame.org/docs/</a:t>
            </a:r>
            <a:r>
              <a:rPr lang="fr" sz="1400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</a:rPr>
              <a:t> </a:t>
            </a:r>
            <a:endParaRPr sz="1400">
              <a:solidFill>
                <a:schemeClr val="dk1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anga"/>
              <a:buChar char="★"/>
            </a:pPr>
            <a:r>
              <a:rPr lang="fr" sz="1400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</a:rPr>
              <a:t>Discussion sur différentes manières de gérer des ennemis avec Pygame et exemples : </a:t>
            </a:r>
            <a:endParaRPr sz="1400">
              <a:solidFill>
                <a:schemeClr val="dk1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 u="sng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https://stackoverflow.com/questions/64530620/how-to-spawn-multiple-enemies-in-pygame</a:t>
            </a:r>
            <a:endParaRPr sz="1400">
              <a:solidFill>
                <a:schemeClr val="dk1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anga"/>
              <a:buChar char="★"/>
            </a:pPr>
            <a:r>
              <a:rPr lang="fr" sz="1400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</a:rPr>
              <a:t>❗utilisation de l’IA (chatgpt)</a:t>
            </a:r>
            <a:r>
              <a:rPr lang="fr" sz="1400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</a:rPr>
              <a:t>❗:</a:t>
            </a:r>
            <a:endParaRPr sz="1400">
              <a:solidFill>
                <a:schemeClr val="dk1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>
                <a:solidFill>
                  <a:schemeClr val="dk1"/>
                </a:solidFill>
                <a:latin typeface="Changa"/>
                <a:ea typeface="Changa"/>
                <a:cs typeface="Changa"/>
                <a:sym typeface="Changa"/>
              </a:rPr>
              <a:t>Utilisée au 1er semestre (version primitive de Miaou Bros) uniquement pour avoir une proposition d’organisation du code déjà réalisé</a:t>
            </a:r>
            <a:endParaRPr sz="1400">
              <a:solidFill>
                <a:schemeClr val="dk1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2494950" y="413200"/>
            <a:ext cx="415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968">
                <a:latin typeface="Nanum Gothic Coding"/>
                <a:ea typeface="Nanum Gothic Coding"/>
                <a:cs typeface="Nanum Gothic Coding"/>
                <a:sym typeface="Nanum Gothic Coding"/>
              </a:rPr>
              <a:t>Ressources utilisées</a:t>
            </a:r>
            <a:endParaRPr b="1" sz="2968">
              <a:latin typeface="Nanum Gothic Coding"/>
              <a:ea typeface="Nanum Gothic Coding"/>
              <a:cs typeface="Nanum Gothic Coding"/>
              <a:sym typeface="Nanum Gothic Codi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27BA0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139" name="Google Shape;139;p21" title="IMG_1983.png"/>
          <p:cNvPicPr preferRelativeResize="0"/>
          <p:nvPr/>
        </p:nvPicPr>
        <p:blipFill rotWithShape="1">
          <a:blip r:embed="rId7">
            <a:alphaModFix/>
          </a:blip>
          <a:srcRect b="48031" l="21382" r="60799" t="32099"/>
          <a:stretch/>
        </p:blipFill>
        <p:spPr>
          <a:xfrm>
            <a:off x="6422375" y="535325"/>
            <a:ext cx="1222000" cy="102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2" title="IMG_1989.png"/>
          <p:cNvPicPr preferRelativeResize="0"/>
          <p:nvPr/>
        </p:nvPicPr>
        <p:blipFill rotWithShape="1">
          <a:blip r:embed="rId3">
            <a:alphaModFix/>
          </a:blip>
          <a:srcRect b="-831" l="7486" r="4648" t="10537"/>
          <a:stretch/>
        </p:blipFill>
        <p:spPr>
          <a:xfrm>
            <a:off x="-114300" y="-324975"/>
            <a:ext cx="9410701" cy="5584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>
            <p:ph type="title"/>
          </p:nvPr>
        </p:nvSpPr>
        <p:spPr>
          <a:xfrm>
            <a:off x="2386525" y="1016075"/>
            <a:ext cx="45255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97A7"/>
                </a:solidFill>
                <a:latin typeface="Nanum Gothic Coding"/>
                <a:ea typeface="Nanum Gothic Coding"/>
                <a:cs typeface="Nanum Gothic Coding"/>
                <a:sym typeface="Nanum Gothic Coding"/>
              </a:rPr>
              <a:t>MERCI POUR VOTRE ATTENTION!</a:t>
            </a:r>
            <a:endParaRPr b="1">
              <a:solidFill>
                <a:srgbClr val="0097A7"/>
              </a:solidFill>
              <a:latin typeface="Nanum Gothic Coding"/>
              <a:ea typeface="Nanum Gothic Coding"/>
              <a:cs typeface="Nanum Gothic Coding"/>
              <a:sym typeface="Nanum Gothic Coding"/>
            </a:endParaRPr>
          </a:p>
        </p:txBody>
      </p:sp>
      <p:pic>
        <p:nvPicPr>
          <p:cNvPr id="146" name="Google Shape;146;p22" title="IMG_1988.png"/>
          <p:cNvPicPr preferRelativeResize="0"/>
          <p:nvPr/>
        </p:nvPicPr>
        <p:blipFill rotWithShape="1">
          <a:blip r:embed="rId4">
            <a:alphaModFix/>
          </a:blip>
          <a:srcRect b="0" l="5480" r="-5480" t="0"/>
          <a:stretch/>
        </p:blipFill>
        <p:spPr>
          <a:xfrm>
            <a:off x="2928899" y="807450"/>
            <a:ext cx="5275251" cy="486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 title="IMG_199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70775" y="1233938"/>
            <a:ext cx="53530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